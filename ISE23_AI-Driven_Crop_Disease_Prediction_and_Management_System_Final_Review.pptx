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74" r:id="rId4"/>
    <p:sldId id="275" r:id="rId5"/>
    <p:sldId id="278" r:id="rId6"/>
    <p:sldId id="279" r:id="rId7"/>
    <p:sldId id="273" r:id="rId8"/>
    <p:sldId id="272" r:id="rId9"/>
    <p:sldId id="282" r:id="rId10"/>
    <p:sldId id="276" r:id="rId11"/>
    <p:sldId id="283" r:id="rId12"/>
    <p:sldId id="268" r:id="rId13"/>
    <p:sldId id="280" r:id="rId14"/>
    <p:sldId id="281" r:id="rId15"/>
    <p:sldId id="270" r:id="rId16"/>
    <p:sldId id="277"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AI-Driven Crop Disease Prediction and Management System</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ISE_23</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124957" y="2398404"/>
            <a:ext cx="5888509" cy="193861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1700" b="1" dirty="0">
                <a:solidFill>
                  <a:schemeClr val="tx1"/>
                </a:solidFill>
                <a:latin typeface="Cambria" panose="02040503050406030204" pitchFamily="18" charset="0"/>
                <a:ea typeface="Cambria" panose="02040503050406030204" pitchFamily="18" charset="0"/>
                <a:cs typeface="Verdana"/>
                <a:sym typeface="Verdana"/>
              </a:rPr>
              <a:t>Dr. Murali Parameswaran</a:t>
            </a:r>
          </a:p>
          <a:p>
            <a:pPr lvl="0">
              <a:spcBef>
                <a:spcPts val="340"/>
              </a:spcBef>
              <a:buClr>
                <a:srgbClr val="17365D"/>
              </a:buClr>
              <a:buSzPts val="1700"/>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GB" sz="1700" b="1" i="0" u="none" strike="noStrike" cap="none" dirty="0">
                <a:solidFill>
                  <a:schemeClr val="bg2"/>
                </a:solidFill>
                <a:latin typeface="Cambria" panose="02040503050406030204" pitchFamily="18" charset="0"/>
                <a:ea typeface="Cambria" panose="02040503050406030204" pitchFamily="18" charset="0"/>
                <a:cs typeface="Verdana"/>
                <a:sym typeface="Verdana"/>
              </a:rPr>
              <a:t>Profess</a:t>
            </a:r>
            <a:r>
              <a:rPr lang="en-GB" sz="1700" b="1" dirty="0">
                <a:solidFill>
                  <a:schemeClr val="bg2"/>
                </a:solidFill>
                <a:latin typeface="Cambria" panose="02040503050406030204" pitchFamily="18" charset="0"/>
                <a:ea typeface="Cambria" panose="02040503050406030204" pitchFamily="18" charset="0"/>
                <a:cs typeface="Verdana"/>
                <a:sym typeface="Verdana"/>
              </a:rPr>
              <a:t>or</a:t>
            </a:r>
          </a:p>
          <a:p>
            <a:pPr lvl="0">
              <a:spcBef>
                <a:spcPts val="340"/>
              </a:spcBef>
              <a:buClr>
                <a:srgbClr val="17365D"/>
              </a:buClr>
              <a:buSzPts val="1700"/>
            </a:pPr>
            <a:r>
              <a:rPr lang="en-GB" sz="1700" b="1" i="0" u="none" strike="noStrike" cap="none" dirty="0">
                <a:solidFill>
                  <a:schemeClr val="bg2"/>
                </a:solidFill>
                <a:latin typeface="Cambria" panose="02040503050406030204" pitchFamily="18" charset="0"/>
                <a:ea typeface="Cambria" panose="02040503050406030204" pitchFamily="18" charset="0"/>
                <a:cs typeface="Verdana"/>
                <a:sym typeface="Verdana"/>
              </a:rPr>
              <a:t>               School of Computer Science and Engineering</a:t>
            </a:r>
          </a:p>
          <a:p>
            <a:pPr lvl="0">
              <a:spcBef>
                <a:spcPts val="340"/>
              </a:spcBef>
              <a:buClr>
                <a:srgbClr val="17365D"/>
              </a:buClr>
              <a:buSzPts val="1700"/>
            </a:pPr>
            <a:r>
              <a:rPr lang="en-GB" sz="1700" b="1" dirty="0">
                <a:solidFill>
                  <a:schemeClr val="bg2"/>
                </a:solidFill>
                <a:latin typeface="Cambria" panose="02040503050406030204" pitchFamily="18" charset="0"/>
                <a:ea typeface="Cambria" panose="02040503050406030204" pitchFamily="18" charset="0"/>
                <a:cs typeface="Verdana"/>
                <a:sym typeface="Verdana"/>
              </a:rPr>
              <a:t>                                    Presidency University</a:t>
            </a:r>
            <a:endParaRPr sz="2000" b="1" i="0" u="none" strike="noStrike" cap="none" dirty="0">
              <a:solidFill>
                <a:schemeClr val="bg2"/>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461410393"/>
              </p:ext>
            </p:extLst>
          </p:nvPr>
        </p:nvGraphicFramePr>
        <p:xfrm>
          <a:off x="757237" y="2523495"/>
          <a:ext cx="5194319" cy="2164140"/>
        </p:xfrm>
        <a:graphic>
          <a:graphicData uri="http://schemas.openxmlformats.org/drawingml/2006/table">
            <a:tbl>
              <a:tblPr firstRow="1" bandRow="1">
                <a:noFill/>
                <a:tableStyleId>{57690726-49DA-4552-BDEB-330DD8EA8BD9}</a:tableStyleId>
              </a:tblPr>
              <a:tblGrid>
                <a:gridCol w="1998671">
                  <a:extLst>
                    <a:ext uri="{9D8B030D-6E8A-4147-A177-3AD203B41FA5}">
                      <a16:colId xmlns:a16="http://schemas.microsoft.com/office/drawing/2014/main" val="20000"/>
                    </a:ext>
                  </a:extLst>
                </a:gridCol>
                <a:gridCol w="3195648">
                  <a:extLst>
                    <a:ext uri="{9D8B030D-6E8A-4147-A177-3AD203B41FA5}">
                      <a16:colId xmlns:a16="http://schemas.microsoft.com/office/drawing/2014/main" val="20001"/>
                    </a:ext>
                  </a:extLst>
                </a:gridCol>
              </a:tblGrid>
              <a:tr h="35300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68432">
                <a:tc>
                  <a:txBody>
                    <a:bodyPr/>
                    <a:lstStyle/>
                    <a:p>
                      <a:pPr marL="0" marR="0" lvl="0" indent="0" algn="ctr" rtl="0">
                        <a:spcBef>
                          <a:spcPts val="0"/>
                        </a:spcBef>
                        <a:spcAft>
                          <a:spcPts val="0"/>
                        </a:spcAft>
                        <a:buFont typeface="+mj-lt"/>
                        <a:buNone/>
                      </a:pPr>
                      <a:r>
                        <a:rPr lang="en-US" sz="1700" b="1" u="none" strike="noStrike" cap="none" dirty="0">
                          <a:latin typeface="Cambria" panose="02040503050406030204" pitchFamily="18" charset="0"/>
                          <a:ea typeface="Cambria" panose="02040503050406030204" pitchFamily="18" charset="0"/>
                        </a:rPr>
                        <a:t>20221ISE0077</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1" u="none" strike="noStrike" cap="none" dirty="0">
                          <a:latin typeface="Sitka Text" pitchFamily="2" charset="0"/>
                          <a:ea typeface="Cambria" panose="02040503050406030204" pitchFamily="18" charset="0"/>
                        </a:rPr>
                        <a:t>HARSHITHA </a:t>
                      </a:r>
                      <a:r>
                        <a:rPr lang="en-US" sz="1800" b="1" u="none" strike="noStrike" cap="none" baseline="0" dirty="0">
                          <a:latin typeface="Sitka Text" pitchFamily="2" charset="0"/>
                          <a:ea typeface="Cambria" panose="02040503050406030204" pitchFamily="18" charset="0"/>
                        </a:rPr>
                        <a:t>V</a:t>
                      </a:r>
                      <a:endParaRPr sz="18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57248">
                <a:tc>
                  <a:txBody>
                    <a:bodyPr/>
                    <a:lstStyle/>
                    <a:p>
                      <a:pPr marL="0" marR="0" lvl="0" indent="0" algn="ctr" rtl="0">
                        <a:spcBef>
                          <a:spcPts val="0"/>
                        </a:spcBef>
                        <a:spcAft>
                          <a:spcPts val="0"/>
                        </a:spcAft>
                        <a:buNone/>
                      </a:pPr>
                      <a:r>
                        <a:rPr lang="en-US" sz="1700" b="1" u="none" strike="noStrike" cap="none" dirty="0">
                          <a:latin typeface="Cambria" panose="02040503050406030204" pitchFamily="18" charset="0"/>
                          <a:ea typeface="Cambria" panose="02040503050406030204" pitchFamily="18" charset="0"/>
                        </a:rPr>
                        <a:t>20221ISE0085</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700" b="1" u="none" strike="noStrike" cap="none" dirty="0">
                          <a:latin typeface="Sitka Text" pitchFamily="2" charset="0"/>
                          <a:ea typeface="Cambria" panose="02040503050406030204" pitchFamily="18" charset="0"/>
                        </a:rPr>
                        <a:t>TAANYA SUBBAIAH B</a:t>
                      </a:r>
                      <a:endParaRPr sz="17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57248">
                <a:tc>
                  <a:txBody>
                    <a:bodyPr/>
                    <a:lstStyle/>
                    <a:p>
                      <a:pPr marL="0" marR="0" lvl="0" indent="0" algn="ctr" rtl="0">
                        <a:spcBef>
                          <a:spcPts val="0"/>
                        </a:spcBef>
                        <a:spcAft>
                          <a:spcPts val="0"/>
                        </a:spcAft>
                        <a:buNone/>
                      </a:pPr>
                      <a:r>
                        <a:rPr lang="en-US" sz="1700" b="1" u="none" strike="noStrike" cap="none" dirty="0">
                          <a:latin typeface="Cambria" panose="02040503050406030204" pitchFamily="18" charset="0"/>
                          <a:ea typeface="Cambria" panose="02040503050406030204" pitchFamily="18" charset="0"/>
                        </a:rPr>
                        <a:t>20221ISE0065</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700" b="1" u="none" strike="noStrike" cap="none" dirty="0">
                          <a:latin typeface="Sitka Text" pitchFamily="2" charset="0"/>
                          <a:ea typeface="Cambria" panose="02040503050406030204" pitchFamily="18" charset="0"/>
                        </a:rPr>
                        <a:t>M ASWIN</a:t>
                      </a:r>
                      <a:endParaRPr sz="17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6843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6843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Information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pt-BR" sz="1800" b="1" dirty="0">
                <a:solidFill>
                  <a:schemeClr val="tx1"/>
                </a:solidFill>
                <a:latin typeface="Cambria" panose="02040503050406030204" pitchFamily="18" charset="0"/>
                <a:ea typeface="Cambria" panose="02040503050406030204" pitchFamily="18" charset="0"/>
                <a:cs typeface="Verdana"/>
                <a:sym typeface="Verdana"/>
              </a:rPr>
              <a:t>Dr. Zafar Ali Khan N</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Ms. Suma N 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85850"/>
            <a:ext cx="10668000" cy="5100637"/>
          </a:xfrm>
          <a:prstGeom prst="rect">
            <a:avLst/>
          </a:prstGeom>
          <a:noFill/>
          <a:ln>
            <a:noFill/>
          </a:ln>
        </p:spPr>
        <p:txBody>
          <a:bodyPr spcFirstLastPara="1" wrap="square" lIns="91425" tIns="45700" rIns="91425" bIns="45700" anchor="t" anchorCtr="0">
            <a:normAutofit fontScale="85000" lnSpcReduction="10000"/>
          </a:bodyPr>
          <a:lstStyle/>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Existing Methods and Drawbacks</a:t>
            </a:r>
          </a:p>
          <a:p>
            <a:pPr marL="495300" indent="-342900" algn="just">
              <a:lnSpc>
                <a:spcPct val="200000"/>
              </a:lnSpc>
              <a:spcBef>
                <a:spcPts val="0"/>
              </a:spcBef>
              <a:buFont typeface="Arial" panose="020B0604020202020204" pitchFamily="34" charset="0"/>
              <a:buChar char="•"/>
            </a:pPr>
            <a:r>
              <a:rPr lang="en-IN" sz="2000" dirty="0">
                <a:latin typeface="Cambria" panose="02040503050406030204" pitchFamily="18" charset="0"/>
                <a:ea typeface="Cambria" panose="02040503050406030204" pitchFamily="18" charset="0"/>
              </a:rPr>
              <a:t>Proposed Method &amp; Feasibility Study </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Block Diagram</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Hardware/Software Requirements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Timeline</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1495" y="1257300"/>
            <a:ext cx="10668000" cy="5314950"/>
          </a:xfrm>
          <a:prstGeom prst="rect">
            <a:avLst/>
          </a:prstGeom>
          <a:noFill/>
          <a:ln>
            <a:noFill/>
          </a:ln>
        </p:spPr>
        <p:txBody>
          <a:bodyPr spcFirstLastPara="1" wrap="square" lIns="91425" tIns="45700" rIns="91425" bIns="45700" anchor="t" anchorCtr="0">
            <a:normAutofit/>
          </a:bodyPr>
          <a:lstStyle/>
          <a:p>
            <a:pPr marL="76200" indent="0">
              <a:buNone/>
            </a:pPr>
            <a:r>
              <a:rPr lang="en-US" sz="2200" dirty="0">
                <a:latin typeface="Cambria" panose="02040503050406030204" pitchFamily="18" charset="0"/>
                <a:ea typeface="Cambria" panose="02040503050406030204" pitchFamily="18" charset="0"/>
              </a:rPr>
              <a:t>Crop diseases significantly impact agricultural productivity and food security worldwide. Traditional disease detection methods rely on manual inspection, which is time-consuming, expensive, and often inaccurate. This project presents an </a:t>
            </a:r>
            <a:r>
              <a:rPr lang="en-US" sz="2200" b="1" dirty="0">
                <a:latin typeface="Cambria" panose="02040503050406030204" pitchFamily="18" charset="0"/>
                <a:ea typeface="Cambria" panose="02040503050406030204" pitchFamily="18" charset="0"/>
              </a:rPr>
              <a:t>AI-Driven Crop Disease Prediction and Management System</a:t>
            </a:r>
            <a:r>
              <a:rPr lang="en-US" sz="2200" dirty="0">
                <a:latin typeface="Cambria" panose="02040503050406030204" pitchFamily="18" charset="0"/>
                <a:ea typeface="Cambria" panose="02040503050406030204" pitchFamily="18" charset="0"/>
              </a:rPr>
              <a:t> that uses deep learning techniques to automatically detect plant diseases from leaf images. A custom Convolutional Neural Network (CNN) is trained on a benchmark agricultural dataset to classify crops as healthy or diseased. The system includes an explainable AI mechanism using Grad-CAM to highlight affected regions, increasing transparency and trust in predictions. Based on the detected disease, the system provides treatment and prevention recommendations through a user-friendly interface. The proposed solution is low-cost, scalable, and suitable for real-world deployment, helping farmers reduce crop loss and improve agricultural productivity.</a:t>
            </a:r>
          </a:p>
          <a:p>
            <a:pPr marL="76200" indent="0">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447737725"/>
              </p:ext>
            </p:extLst>
          </p:nvPr>
        </p:nvGraphicFramePr>
        <p:xfrm>
          <a:off x="749300" y="1117600"/>
          <a:ext cx="10769600" cy="43815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da-DK" sz="1800" b="0" dirty="0">
                          <a:latin typeface="Cambria" pitchFamily="18" charset="0"/>
                          <a:ea typeface="Cambria" pitchFamily="18" charset="0"/>
                        </a:rPr>
                        <a:t>[1] Mohanty et al., 2016</a:t>
                      </a:r>
                      <a:endParaRPr lang="en-IN" sz="1800" b="0" dirty="0">
                        <a:latin typeface="Cambria" pitchFamily="18" charset="0"/>
                        <a:ea typeface="Cambria" pitchFamily="18" charset="0"/>
                      </a:endParaRPr>
                    </a:p>
                  </a:txBody>
                  <a:tcPr/>
                </a:tc>
                <a:tc>
                  <a:txBody>
                    <a:bodyPr/>
                    <a:lstStyle/>
                    <a:p>
                      <a:r>
                        <a:rPr lang="en-US" sz="1800" b="0" dirty="0">
                          <a:latin typeface="Cambria" pitchFamily="18" charset="0"/>
                          <a:ea typeface="Cambria" pitchFamily="18" charset="0"/>
                        </a:rPr>
                        <a:t>CNN-based deep learning on </a:t>
                      </a:r>
                      <a:r>
                        <a:rPr lang="en-US" sz="1800" b="0" dirty="0" err="1">
                          <a:latin typeface="Cambria" pitchFamily="18" charset="0"/>
                          <a:ea typeface="Cambria" pitchFamily="18" charset="0"/>
                        </a:rPr>
                        <a:t>PlantVillage</a:t>
                      </a:r>
                      <a:r>
                        <a:rPr lang="en-US" sz="1800" b="0" dirty="0">
                          <a:latin typeface="Cambria" pitchFamily="18" charset="0"/>
                          <a:ea typeface="Cambria" pitchFamily="18" charset="0"/>
                        </a:rPr>
                        <a:t> dataset</a:t>
                      </a:r>
                      <a:endParaRPr lang="en-IN" sz="1800" b="0" dirty="0">
                        <a:latin typeface="Cambria" pitchFamily="18" charset="0"/>
                        <a:ea typeface="Cambria" pitchFamily="18" charset="0"/>
                      </a:endParaRPr>
                    </a:p>
                  </a:txBody>
                  <a:tcPr/>
                </a:tc>
                <a:tc>
                  <a:txBody>
                    <a:bodyPr/>
                    <a:lstStyle/>
                    <a:p>
                      <a:r>
                        <a:rPr lang="en-US" sz="1800" b="0" dirty="0">
                          <a:latin typeface="Cambria" pitchFamily="18" charset="0"/>
                          <a:ea typeface="Cambria" pitchFamily="18" charset="0"/>
                        </a:rPr>
                        <a:t>Early use of CNNs for plant disease detection; achieved high accuracy but dataset limited to lab conditions.</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da-DK" sz="1800" dirty="0">
                          <a:latin typeface="Cambria" pitchFamily="18" charset="0"/>
                          <a:ea typeface="Cambria" pitchFamily="18" charset="0"/>
                        </a:rPr>
                        <a:t>[2] Too et al., 2019</a:t>
                      </a:r>
                      <a:endParaRPr lang="en-IN" sz="1800" dirty="0">
                        <a:latin typeface="Cambria" pitchFamily="18" charset="0"/>
                        <a:ea typeface="Cambria" pitchFamily="18" charset="0"/>
                      </a:endParaRPr>
                    </a:p>
                  </a:txBody>
                  <a:tcPr/>
                </a:tc>
                <a:tc>
                  <a:txBody>
                    <a:bodyPr/>
                    <a:lstStyle/>
                    <a:p>
                      <a:r>
                        <a:rPr lang="en-IN" sz="1800" dirty="0">
                          <a:latin typeface="Cambria" pitchFamily="18" charset="0"/>
                          <a:ea typeface="Cambria" pitchFamily="18" charset="0"/>
                        </a:rPr>
                        <a:t>Fine-tuning deep learning models</a:t>
                      </a:r>
                    </a:p>
                  </a:txBody>
                  <a:tcPr/>
                </a:tc>
                <a:tc>
                  <a:txBody>
                    <a:bodyPr/>
                    <a:lstStyle/>
                    <a:p>
                      <a:r>
                        <a:rPr lang="en-US" sz="1800" dirty="0">
                          <a:latin typeface="Cambria" pitchFamily="18" charset="0"/>
                          <a:ea typeface="Cambria" pitchFamily="18" charset="0"/>
                        </a:rPr>
                        <a:t>Compared multiple pre-trained CNNs (e.g., VGG, </a:t>
                      </a:r>
                      <a:r>
                        <a:rPr lang="en-US" sz="1800" dirty="0" err="1">
                          <a:latin typeface="Cambria" pitchFamily="18" charset="0"/>
                          <a:ea typeface="Cambria" pitchFamily="18" charset="0"/>
                        </a:rPr>
                        <a:t>ResNet</a:t>
                      </a:r>
                      <a:r>
                        <a:rPr lang="en-US" sz="1800" dirty="0">
                          <a:latin typeface="Cambria" pitchFamily="18" charset="0"/>
                          <a:ea typeface="Cambria" pitchFamily="18" charset="0"/>
                        </a:rPr>
                        <a:t>); improved accuracy but required large compute resources.</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r h="990600">
                <a:tc>
                  <a:txBody>
                    <a:bodyPr/>
                    <a:lstStyle/>
                    <a:p>
                      <a:r>
                        <a:rPr lang="en-IN" sz="1800" dirty="0">
                          <a:latin typeface="Cambria" pitchFamily="18" charset="0"/>
                          <a:ea typeface="Cambria" pitchFamily="18" charset="0"/>
                        </a:rPr>
                        <a:t>[3] </a:t>
                      </a:r>
                      <a:r>
                        <a:rPr lang="en-IN" sz="1800" dirty="0" err="1">
                          <a:latin typeface="Cambria" pitchFamily="18" charset="0"/>
                          <a:ea typeface="Cambria" pitchFamily="18" charset="0"/>
                        </a:rPr>
                        <a:t>Ferentinos</a:t>
                      </a:r>
                      <a:r>
                        <a:rPr lang="en-IN" sz="1800" dirty="0">
                          <a:latin typeface="Cambria" pitchFamily="18" charset="0"/>
                          <a:ea typeface="Cambria" pitchFamily="18" charset="0"/>
                        </a:rPr>
                        <a:t>, 2018</a:t>
                      </a:r>
                    </a:p>
                  </a:txBody>
                  <a:tcPr/>
                </a:tc>
                <a:tc>
                  <a:txBody>
                    <a:bodyPr/>
                    <a:lstStyle/>
                    <a:p>
                      <a:r>
                        <a:rPr lang="en-IN" sz="1800" dirty="0">
                          <a:latin typeface="Cambria" pitchFamily="18" charset="0"/>
                          <a:ea typeface="Cambria" pitchFamily="18" charset="0"/>
                        </a:rPr>
                        <a:t>Deep CNN models for diagnosis</a:t>
                      </a:r>
                    </a:p>
                  </a:txBody>
                  <a:tcPr/>
                </a:tc>
                <a:tc>
                  <a:txBody>
                    <a:bodyPr/>
                    <a:lstStyle/>
                    <a:p>
                      <a:r>
                        <a:rPr lang="en-US" sz="1800" dirty="0">
                          <a:latin typeface="Cambria" pitchFamily="18" charset="0"/>
                          <a:ea typeface="Cambria" pitchFamily="18" charset="0"/>
                        </a:rPr>
                        <a:t>Trained CNNs on 58,000 images, achieved &gt;99% accuracy; model less effective in real field conditions.</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3"/>
                  </a:ext>
                </a:extLst>
              </a:tr>
              <a:tr h="990600">
                <a:tc>
                  <a:txBody>
                    <a:bodyPr/>
                    <a:lstStyle/>
                    <a:p>
                      <a:r>
                        <a:rPr lang="en-IN" sz="1800" dirty="0">
                          <a:latin typeface="Cambria" pitchFamily="18" charset="0"/>
                          <a:ea typeface="Cambria" pitchFamily="18" charset="0"/>
                        </a:rPr>
                        <a:t>[4] Jiang et al., 2019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p>
                  </a:txBody>
                  <a:tcPr/>
                </a:tc>
                <a:tc>
                  <a:txBody>
                    <a:bodyPr/>
                    <a:lstStyle/>
                    <a:p>
                      <a:r>
                        <a:rPr lang="en-US" sz="1800" dirty="0">
                          <a:latin typeface="Cambria" pitchFamily="18" charset="0"/>
                          <a:ea typeface="Cambria" pitchFamily="18" charset="0"/>
                        </a:rPr>
                        <a:t>Improved CNN for apple leaves</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Real-time apple leaf disease detection; robust but crop-specific.</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91625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790897573"/>
              </p:ext>
            </p:extLst>
          </p:nvPr>
        </p:nvGraphicFramePr>
        <p:xfrm>
          <a:off x="749300" y="1117600"/>
          <a:ext cx="10769600" cy="43815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en-IN" sz="1800" dirty="0">
                          <a:latin typeface="Cambria" pitchFamily="18" charset="0"/>
                          <a:ea typeface="Cambria" pitchFamily="18" charset="0"/>
                        </a:rPr>
                        <a:t>[5] Zhang et al., 2018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CNN for maize leaf diseases</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High accuracy on maize dataset; limited scalability to other crops.</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fr-FR" sz="1800" dirty="0">
                          <a:latin typeface="Cambria" pitchFamily="18" charset="0"/>
                          <a:ea typeface="Cambria" pitchFamily="18" charset="0"/>
                        </a:rPr>
                        <a:t>[6] </a:t>
                      </a:r>
                      <a:r>
                        <a:rPr lang="fr-FR" sz="1800" dirty="0" err="1">
                          <a:latin typeface="Cambria" pitchFamily="18" charset="0"/>
                          <a:ea typeface="Cambria" pitchFamily="18" charset="0"/>
                        </a:rPr>
                        <a:t>Yu</a:t>
                      </a:r>
                      <a:r>
                        <a:rPr lang="fr-FR" sz="1800" dirty="0">
                          <a:latin typeface="Cambria" pitchFamily="18" charset="0"/>
                          <a:ea typeface="Cambria" pitchFamily="18" charset="0"/>
                        </a:rPr>
                        <a:t> &amp; Son, 2020 (</a:t>
                      </a:r>
                      <a:r>
                        <a:rPr lang="fr-FR" sz="1800" i="1" dirty="0">
                          <a:latin typeface="Cambria" pitchFamily="18" charset="0"/>
                          <a:ea typeface="Cambria" pitchFamily="18" charset="0"/>
                        </a:rPr>
                        <a:t>IEEE Access</a:t>
                      </a:r>
                      <a:r>
                        <a:rPr lang="fr-FR" sz="1800" dirty="0">
                          <a:latin typeface="Cambria" pitchFamily="18" charset="0"/>
                          <a:ea typeface="Cambria" pitchFamily="18" charset="0"/>
                        </a:rPr>
                        <a:t>)</a:t>
                      </a:r>
                      <a:endParaRPr lang="en-IN" sz="1800" dirty="0">
                        <a:latin typeface="Cambria" pitchFamily="18" charset="0"/>
                        <a:ea typeface="Cambria" pitchFamily="18" charset="0"/>
                      </a:endParaRPr>
                    </a:p>
                  </a:txBody>
                  <a:tcPr/>
                </a:tc>
                <a:tc>
                  <a:txBody>
                    <a:bodyPr/>
                    <a:lstStyle/>
                    <a:p>
                      <a:r>
                        <a:rPr lang="en-IN" sz="1800" dirty="0">
                          <a:latin typeface="Cambria" pitchFamily="18" charset="0"/>
                          <a:ea typeface="Cambria" pitchFamily="18" charset="0"/>
                        </a:rPr>
                        <a:t>ROI-aware CNN</a:t>
                      </a:r>
                    </a:p>
                  </a:txBody>
                  <a:tcPr/>
                </a:tc>
                <a:tc>
                  <a:txBody>
                    <a:bodyPr/>
                    <a:lstStyle/>
                    <a:p>
                      <a:r>
                        <a:rPr lang="en-US" sz="1800" dirty="0">
                          <a:latin typeface="Cambria" pitchFamily="18" charset="0"/>
                          <a:ea typeface="Cambria" pitchFamily="18" charset="0"/>
                        </a:rPr>
                        <a:t>Focused on diseased regions in images; better precision but computationally heavy.</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r h="990600">
                <a:tc>
                  <a:txBody>
                    <a:bodyPr/>
                    <a:lstStyle/>
                    <a:p>
                      <a:r>
                        <a:rPr lang="da-DK" sz="1800" dirty="0">
                          <a:latin typeface="Cambria" pitchFamily="18" charset="0"/>
                          <a:ea typeface="Cambria" pitchFamily="18" charset="0"/>
                        </a:rPr>
                        <a:t>[7] Too et al., 2019</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Comparative DL study (repeat entry)</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Reconfirmed CNN superiority; highlighted challenges of </a:t>
                      </a:r>
                      <a:r>
                        <a:rPr lang="en-US" sz="1800" dirty="0" err="1">
                          <a:latin typeface="Cambria" pitchFamily="18" charset="0"/>
                          <a:ea typeface="Cambria" pitchFamily="18" charset="0"/>
                        </a:rPr>
                        <a:t>overfitting</a:t>
                      </a:r>
                      <a:r>
                        <a:rPr lang="en-US" sz="1800" dirty="0">
                          <a:latin typeface="Cambria" pitchFamily="18" charset="0"/>
                          <a:ea typeface="Cambria" pitchFamily="18" charset="0"/>
                        </a:rPr>
                        <a:t>.</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3"/>
                  </a:ext>
                </a:extLst>
              </a:tr>
              <a:tr h="990600">
                <a:tc>
                  <a:txBody>
                    <a:bodyPr/>
                    <a:lstStyle/>
                    <a:p>
                      <a:r>
                        <a:rPr lang="en-IN" sz="1800" dirty="0">
                          <a:latin typeface="Cambria" pitchFamily="18" charset="0"/>
                          <a:ea typeface="Cambria" pitchFamily="18" charset="0"/>
                        </a:rPr>
                        <a:t>[8] </a:t>
                      </a:r>
                      <a:r>
                        <a:rPr lang="en-IN" sz="1800" dirty="0" err="1">
                          <a:latin typeface="Cambria" pitchFamily="18" charset="0"/>
                          <a:ea typeface="Cambria" pitchFamily="18" charset="0"/>
                        </a:rPr>
                        <a:t>Ferentinos</a:t>
                      </a:r>
                      <a:r>
                        <a:rPr lang="en-IN" sz="1800" dirty="0">
                          <a:latin typeface="Cambria" pitchFamily="18" charset="0"/>
                          <a:ea typeface="Cambria" pitchFamily="18" charset="0"/>
                        </a:rPr>
                        <a:t>, 2018 (repeat entry)</a:t>
                      </a:r>
                    </a:p>
                  </a:txBody>
                  <a:tcPr/>
                </a:tc>
                <a:tc>
                  <a:txBody>
                    <a:bodyPr/>
                    <a:lstStyle/>
                    <a:p>
                      <a:r>
                        <a:rPr lang="en-IN" sz="1800" dirty="0">
                          <a:latin typeface="Cambria" pitchFamily="18" charset="0"/>
                          <a:ea typeface="Cambria" pitchFamily="18" charset="0"/>
                        </a:rPr>
                        <a:t>CNN-based plant disease models</a:t>
                      </a:r>
                    </a:p>
                  </a:txBody>
                  <a:tcPr/>
                </a:tc>
                <a:tc>
                  <a:txBody>
                    <a:bodyPr/>
                    <a:lstStyle/>
                    <a:p>
                      <a:r>
                        <a:rPr lang="en-US" sz="1800" dirty="0">
                          <a:latin typeface="Cambria" pitchFamily="18" charset="0"/>
                          <a:ea typeface="Cambria" pitchFamily="18" charset="0"/>
                        </a:rPr>
                        <a:t>Demonstrated scalability to multiple crops; limited dataset diversity.</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79474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1416539932"/>
              </p:ext>
            </p:extLst>
          </p:nvPr>
        </p:nvGraphicFramePr>
        <p:xfrm>
          <a:off x="749300" y="1117600"/>
          <a:ext cx="10769600" cy="24003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it-IT" sz="1800" dirty="0">
                          <a:latin typeface="Cambria" pitchFamily="18" charset="0"/>
                          <a:ea typeface="Cambria" pitchFamily="18" charset="0"/>
                        </a:rPr>
                        <a:t>[9] Li et al., 2021 (</a:t>
                      </a:r>
                      <a:r>
                        <a:rPr lang="it-IT" sz="1800" i="1" dirty="0">
                          <a:latin typeface="Cambria" pitchFamily="18" charset="0"/>
                          <a:ea typeface="Cambria" pitchFamily="18" charset="0"/>
                        </a:rPr>
                        <a:t>IEEE Access</a:t>
                      </a:r>
                      <a:r>
                        <a:rPr lang="it-IT" sz="1800" dirty="0">
                          <a:latin typeface="Cambria" pitchFamily="18" charset="0"/>
                          <a:ea typeface="Cambria" pitchFamily="18" charset="0"/>
                        </a:rPr>
                        <a:t>)</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Review on deep learning in plant disease</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Summarized advances in DL for agriculture; identified gaps in real-world deployment.</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en-IN" sz="1800" dirty="0">
                          <a:latin typeface="Cambria" pitchFamily="18" charset="0"/>
                          <a:ea typeface="Cambria" pitchFamily="18" charset="0"/>
                        </a:rPr>
                        <a:t>[10] Chen et al., 2021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p>
                  </a:txBody>
                  <a:tcPr/>
                </a:tc>
                <a:tc>
                  <a:txBody>
                    <a:bodyPr/>
                    <a:lstStyle/>
                    <a:p>
                      <a:r>
                        <a:rPr lang="en-US" sz="1800" dirty="0">
                          <a:latin typeface="Cambria" pitchFamily="18" charset="0"/>
                          <a:ea typeface="Cambria" pitchFamily="18" charset="0"/>
                        </a:rPr>
                        <a:t>Improved CNN for tomato leaf diseases</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Enhanced detection accuracy for tomato diseases; specific to one crop.</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65253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p:cNvSpPr txBox="1">
            <a:spLocks noGrp="1"/>
          </p:cNvSpPr>
          <p:nvPr>
            <p:ph type="body" idx="1"/>
          </p:nvPr>
        </p:nvSpPr>
        <p:spPr>
          <a:xfrm>
            <a:off x="639118" y="869622"/>
            <a:ext cx="10841681" cy="5713739"/>
          </a:xfrm>
          <a:prstGeom prst="rect">
            <a:avLst/>
          </a:prstGeom>
          <a:noFill/>
          <a:ln>
            <a:noFill/>
          </a:ln>
        </p:spPr>
        <p:txBody>
          <a:bodyPr spcFirstLastPara="1" wrap="square" lIns="91425" tIns="45700" rIns="91425" bIns="45700" anchor="t" anchorCtr="0">
            <a:normAutofit/>
          </a:bodyPr>
          <a:lstStyle/>
          <a:p>
            <a:pPr>
              <a:lnSpc>
                <a:spcPct val="150000"/>
              </a:lnSpc>
            </a:pPr>
            <a:r>
              <a:rPr lang="en-US" dirty="0">
                <a:latin typeface="Cambria" pitchFamily="18" charset="0"/>
                <a:ea typeface="Cambria" pitchFamily="18" charset="0"/>
              </a:rPr>
              <a:t>Detect crop leaf diseases early using AI-driven methods.</a:t>
            </a:r>
          </a:p>
          <a:p>
            <a:pPr>
              <a:lnSpc>
                <a:spcPct val="150000"/>
              </a:lnSpc>
            </a:pPr>
            <a:r>
              <a:rPr lang="en-US" dirty="0">
                <a:latin typeface="Cambria" pitchFamily="18" charset="0"/>
                <a:ea typeface="Cambria" pitchFamily="18" charset="0"/>
              </a:rPr>
              <a:t>Develop a reliable and accurate </a:t>
            </a:r>
            <a:r>
              <a:rPr lang="en-US" b="1" dirty="0">
                <a:latin typeface="Cambria" pitchFamily="18" charset="0"/>
                <a:ea typeface="Cambria" pitchFamily="18" charset="0"/>
              </a:rPr>
              <a:t>CNN-based classification model</a:t>
            </a:r>
            <a:r>
              <a:rPr lang="en-US" dirty="0">
                <a:latin typeface="Cambria" pitchFamily="18" charset="0"/>
                <a:ea typeface="Cambria" pitchFamily="18" charset="0"/>
              </a:rPr>
              <a:t>.</a:t>
            </a:r>
          </a:p>
          <a:p>
            <a:pPr>
              <a:lnSpc>
                <a:spcPct val="150000"/>
              </a:lnSpc>
            </a:pPr>
            <a:r>
              <a:rPr lang="en-US" dirty="0">
                <a:latin typeface="Cambria" pitchFamily="18" charset="0"/>
                <a:ea typeface="Cambria" pitchFamily="18" charset="0"/>
              </a:rPr>
              <a:t>Provide farmers with actionable </a:t>
            </a:r>
            <a:r>
              <a:rPr lang="en-US" b="1" dirty="0">
                <a:latin typeface="Cambria" pitchFamily="18" charset="0"/>
                <a:ea typeface="Cambria" pitchFamily="18" charset="0"/>
              </a:rPr>
              <a:t>disease management recommendations</a:t>
            </a:r>
            <a:r>
              <a:rPr lang="en-US" dirty="0">
                <a:latin typeface="Cambria" pitchFamily="18" charset="0"/>
                <a:ea typeface="Cambria" pitchFamily="18" charset="0"/>
              </a:rPr>
              <a:t>.</a:t>
            </a:r>
          </a:p>
          <a:p>
            <a:pPr>
              <a:lnSpc>
                <a:spcPct val="150000"/>
              </a:lnSpc>
            </a:pPr>
            <a:r>
              <a:rPr lang="en-US" dirty="0">
                <a:latin typeface="Cambria" pitchFamily="18" charset="0"/>
                <a:ea typeface="Cambria" pitchFamily="18" charset="0"/>
              </a:rPr>
              <a:t>Build a </a:t>
            </a:r>
            <a:r>
              <a:rPr lang="en-US" b="1" dirty="0">
                <a:latin typeface="Cambria" pitchFamily="18" charset="0"/>
                <a:ea typeface="Cambria" pitchFamily="18" charset="0"/>
              </a:rPr>
              <a:t>low-cost, user-friendly system</a:t>
            </a:r>
            <a:r>
              <a:rPr lang="en-US" dirty="0">
                <a:latin typeface="Cambria" pitchFamily="18" charset="0"/>
                <a:ea typeface="Cambria" pitchFamily="18" charset="0"/>
              </a:rPr>
              <a:t> (web/mobile).</a:t>
            </a:r>
          </a:p>
          <a:p>
            <a:pPr>
              <a:lnSpc>
                <a:spcPct val="150000"/>
              </a:lnSpc>
            </a:pPr>
            <a:r>
              <a:rPr lang="en-US" dirty="0">
                <a:latin typeface="Cambria" pitchFamily="18" charset="0"/>
                <a:ea typeface="Cambria" pitchFamily="18" charset="0"/>
              </a:rPr>
              <a:t>Reduce yield loss and support sustainable agriculture.</a:t>
            </a:r>
          </a:p>
        </p:txBody>
      </p:sp>
      <p:sp>
        <p:nvSpPr>
          <p:cNvPr id="2" name="Rectangle 1">
            <a:extLst>
              <a:ext uri="{FF2B5EF4-FFF2-40B4-BE49-F238E27FC236}">
                <a16:creationId xmlns:a16="http://schemas.microsoft.com/office/drawing/2014/main" id="{2BDDC244-09DE-B811-4C9C-4263F1832548}"/>
              </a:ext>
            </a:extLst>
          </p:cNvPr>
          <p:cNvSpPr>
            <a:spLocks noChangeArrowheads="1"/>
          </p:cNvSpPr>
          <p:nvPr/>
        </p:nvSpPr>
        <p:spPr bwMode="auto">
          <a:xfrm>
            <a:off x="546754" y="160933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IN" dirty="0"/>
              <a:t>Methodology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241300" y="1079500"/>
            <a:ext cx="8325184" cy="5503862"/>
          </a:xfrm>
          <a:prstGeom prst="rect">
            <a:avLst/>
          </a:prstGeom>
          <a:noFill/>
          <a:ln>
            <a:noFill/>
          </a:ln>
        </p:spPr>
        <p:txBody>
          <a:bodyPr spcFirstLastPara="1" wrap="square" lIns="91425" tIns="45700" rIns="91425" bIns="45700" anchor="t" anchorCtr="0">
            <a:noAutofit/>
          </a:bodyPr>
          <a:lstStyle/>
          <a:p>
            <a:pPr marL="76200" indent="0">
              <a:buNone/>
            </a:pPr>
            <a:r>
              <a:rPr lang="en-US" b="1" dirty="0">
                <a:latin typeface="Cambria" panose="02040503050406030204" pitchFamily="18" charset="0"/>
                <a:ea typeface="Cambria" panose="02040503050406030204" pitchFamily="18" charset="0"/>
              </a:rPr>
              <a:t>1. Data Collection</a:t>
            </a:r>
            <a:br>
              <a:rPr lang="en-US" dirty="0">
                <a:latin typeface="Cambria" panose="02040503050406030204" pitchFamily="18" charset="0"/>
                <a:ea typeface="Cambria" panose="02040503050406030204" pitchFamily="18" charset="0"/>
              </a:rPr>
            </a:br>
            <a:r>
              <a:rPr lang="en-US" dirty="0" err="1">
                <a:latin typeface="Cambria" panose="02040503050406030204" pitchFamily="18" charset="0"/>
                <a:ea typeface="Cambria" panose="02040503050406030204" pitchFamily="18" charset="0"/>
              </a:rPr>
              <a:t>PlantVillage</a:t>
            </a:r>
            <a:r>
              <a:rPr lang="en-US" dirty="0">
                <a:latin typeface="Cambria" panose="02040503050406030204" pitchFamily="18" charset="0"/>
                <a:ea typeface="Cambria" panose="02040503050406030204" pitchFamily="18" charset="0"/>
              </a:rPr>
              <a:t> dataset with healthy &amp; diseased leaf images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Covers multiple crops and disease categories</a:t>
            </a:r>
          </a:p>
          <a:p>
            <a:pPr marL="76200" indent="0">
              <a:buNone/>
            </a:pPr>
            <a:r>
              <a:rPr lang="en-US" b="1" dirty="0">
                <a:latin typeface="Cambria" panose="02040503050406030204" pitchFamily="18" charset="0"/>
                <a:ea typeface="Cambria" panose="02040503050406030204" pitchFamily="18" charset="0"/>
              </a:rPr>
              <a:t>2. Preprocessing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Image resizing &amp; normalization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Noise removal and data augmentation (rotation, flip, zoom)</a:t>
            </a:r>
          </a:p>
          <a:p>
            <a:pPr marL="76200" indent="0">
              <a:buNone/>
            </a:pPr>
            <a:r>
              <a:rPr lang="en-US" b="1" dirty="0">
                <a:latin typeface="Cambria" panose="02040503050406030204" pitchFamily="18" charset="0"/>
                <a:ea typeface="Cambria" panose="02040503050406030204" pitchFamily="18" charset="0"/>
              </a:rPr>
              <a:t>3. Model Building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Custom CNN to extract disease features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Layers include convolution, pooling, dense and dropout</a:t>
            </a:r>
          </a:p>
          <a:p>
            <a:pPr marL="7620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3DE0E-65E8-CA31-D923-ED606B00F4F1}"/>
              </a:ext>
            </a:extLst>
          </p:cNvPr>
          <p:cNvSpPr>
            <a:spLocks noGrp="1"/>
          </p:cNvSpPr>
          <p:nvPr>
            <p:ph type="title"/>
          </p:nvPr>
        </p:nvSpPr>
        <p:spPr/>
        <p:txBody>
          <a:bodyPr/>
          <a:lstStyle/>
          <a:p>
            <a:r>
              <a:rPr lang="en-IN" dirty="0"/>
              <a:t>Methodology</a:t>
            </a:r>
          </a:p>
        </p:txBody>
      </p:sp>
      <p:sp>
        <p:nvSpPr>
          <p:cNvPr id="3" name="Text Placeholder 2">
            <a:extLst>
              <a:ext uri="{FF2B5EF4-FFF2-40B4-BE49-F238E27FC236}">
                <a16:creationId xmlns:a16="http://schemas.microsoft.com/office/drawing/2014/main" id="{621940A3-ADBD-B75D-7D35-962943889D79}"/>
              </a:ext>
            </a:extLst>
          </p:cNvPr>
          <p:cNvSpPr>
            <a:spLocks noGrp="1"/>
          </p:cNvSpPr>
          <p:nvPr>
            <p:ph type="body" idx="1"/>
          </p:nvPr>
        </p:nvSpPr>
        <p:spPr>
          <a:xfrm>
            <a:off x="259080" y="1112520"/>
            <a:ext cx="11221720" cy="4983481"/>
          </a:xfrm>
        </p:spPr>
        <p:txBody>
          <a:bodyPr/>
          <a:lstStyle/>
          <a:p>
            <a:pPr marL="76200" indent="0">
              <a:buNone/>
            </a:pPr>
            <a:r>
              <a:rPr lang="en-US" b="1" dirty="0">
                <a:latin typeface="Cambria" panose="02040503050406030204" pitchFamily="18" charset="0"/>
                <a:ea typeface="Cambria" panose="02040503050406030204" pitchFamily="18" charset="0"/>
              </a:rPr>
              <a:t>4. Model Training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Trained using Adam optimizer &amp; cross-entropy loss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Early stopping prevents overfitting</a:t>
            </a:r>
          </a:p>
          <a:p>
            <a:pPr marL="76200" indent="0">
              <a:buNone/>
            </a:pPr>
            <a:r>
              <a:rPr lang="en-US" b="1" dirty="0">
                <a:latin typeface="Cambria" panose="02040503050406030204" pitchFamily="18" charset="0"/>
                <a:ea typeface="Cambria" panose="02040503050406030204" pitchFamily="18" charset="0"/>
              </a:rPr>
              <a:t>5. Disease Prediction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Model classifies input image into disease category</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Outputs confidence score</a:t>
            </a:r>
          </a:p>
          <a:p>
            <a:pPr marL="76200" indent="0">
              <a:buNone/>
            </a:pPr>
            <a:r>
              <a:rPr lang="en-US" b="1" dirty="0">
                <a:latin typeface="Cambria" panose="02040503050406030204" pitchFamily="18" charset="0"/>
                <a:ea typeface="Cambria" panose="02040503050406030204" pitchFamily="18" charset="0"/>
              </a:rPr>
              <a:t>6. Explainability (Grad-CAM)</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Highlights infected regions on the leaf</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Improves trust and model transparency</a:t>
            </a:r>
          </a:p>
          <a:p>
            <a:pPr marL="76200" indent="0">
              <a:buNone/>
            </a:pPr>
            <a:r>
              <a:rPr lang="en-US" b="1" dirty="0">
                <a:latin typeface="Cambria" panose="02040503050406030204" pitchFamily="18" charset="0"/>
                <a:ea typeface="Cambria" panose="02040503050406030204" pitchFamily="18" charset="0"/>
              </a:rPr>
              <a:t>7. Recommendation System</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Suggests treatment and prevention methods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User-friendly interface for farmers</a:t>
            </a:r>
          </a:p>
          <a:p>
            <a:endParaRPr lang="en-IN" dirty="0"/>
          </a:p>
        </p:txBody>
      </p:sp>
    </p:spTree>
    <p:extLst>
      <p:ext uri="{BB962C8B-B14F-4D97-AF65-F5344CB8AC3E}">
        <p14:creationId xmlns:p14="http://schemas.microsoft.com/office/powerpoint/2010/main" val="190519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638" y="125413"/>
            <a:ext cx="10780712" cy="811212"/>
          </a:xfrm>
        </p:spPr>
        <p:txBody>
          <a:bodyPr/>
          <a:lstStyle/>
          <a:p>
            <a:pPr marL="495300" indent="-342900">
              <a:lnSpc>
                <a:spcPct val="200000"/>
              </a:lnSpc>
            </a:pPr>
            <a:r>
              <a:rPr lang="en-IN" dirty="0">
                <a:latin typeface="Cambria" panose="02040503050406030204" pitchFamily="18" charset="0"/>
                <a:ea typeface="Cambria" panose="02040503050406030204" pitchFamily="18" charset="0"/>
              </a:rPr>
              <a:t>Proposed Method </a:t>
            </a:r>
            <a:endParaRPr lang="en-US"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657225" y="1128713"/>
            <a:ext cx="10852150" cy="5224463"/>
          </a:xfrm>
        </p:spPr>
        <p:txBody>
          <a:bodyPr>
            <a:normAutofit/>
          </a:bodyPr>
          <a:lstStyle/>
          <a:p>
            <a:pPr marL="76200" indent="0">
              <a:buNone/>
            </a:pPr>
            <a:r>
              <a:rPr lang="en-IN" b="1" dirty="0">
                <a:latin typeface="Cambria" pitchFamily="18" charset="0"/>
                <a:ea typeface="Cambria" pitchFamily="18" charset="0"/>
              </a:rPr>
              <a:t>Proposed Method:</a:t>
            </a:r>
          </a:p>
          <a:p>
            <a:pPr marL="76200" indent="0">
              <a:buNone/>
            </a:pPr>
            <a:r>
              <a:rPr lang="en-US" dirty="0">
                <a:latin typeface="Cambria" panose="02040503050406030204" pitchFamily="18" charset="0"/>
                <a:ea typeface="Cambria" panose="02040503050406030204" pitchFamily="18" charset="0"/>
              </a:rPr>
              <a:t>The system uses </a:t>
            </a:r>
            <a:r>
              <a:rPr lang="en-US" b="1" dirty="0">
                <a:latin typeface="Cambria" panose="02040503050406030204" pitchFamily="18" charset="0"/>
                <a:ea typeface="Cambria" panose="02040503050406030204" pitchFamily="18" charset="0"/>
              </a:rPr>
              <a:t>AI and Deep Learning (CNN)</a:t>
            </a:r>
            <a:r>
              <a:rPr lang="en-US" dirty="0">
                <a:latin typeface="Cambria" panose="02040503050406030204" pitchFamily="18" charset="0"/>
                <a:ea typeface="Cambria" panose="02040503050406030204" pitchFamily="18" charset="0"/>
              </a:rPr>
              <a:t> to detect crop diseases from leaf images.</a:t>
            </a:r>
          </a:p>
          <a:p>
            <a:pPr marL="76200" indent="0">
              <a:buNone/>
            </a:pPr>
            <a:r>
              <a:rPr lang="en-US" dirty="0">
                <a:latin typeface="Cambria" panose="02040503050406030204" pitchFamily="18" charset="0"/>
                <a:ea typeface="Cambria" panose="02040503050406030204" pitchFamily="18" charset="0"/>
              </a:rPr>
              <a:t>Farmers upload crop leaf images using a mobile or web application.</a:t>
            </a:r>
          </a:p>
          <a:p>
            <a:pPr marL="76200" indent="0">
              <a:buNone/>
            </a:pPr>
            <a:r>
              <a:rPr lang="en-US" dirty="0">
                <a:latin typeface="Cambria" panose="02040503050406030204" pitchFamily="18" charset="0"/>
                <a:ea typeface="Cambria" panose="02040503050406030204" pitchFamily="18" charset="0"/>
              </a:rPr>
              <a:t>Images are preprocessed (resizing, normalization, noise removal).</a:t>
            </a:r>
          </a:p>
          <a:p>
            <a:pPr marL="76200" indent="0">
              <a:buNone/>
            </a:pPr>
            <a:r>
              <a:rPr lang="en-US" dirty="0">
                <a:latin typeface="Cambria" panose="02040503050406030204" pitchFamily="18" charset="0"/>
                <a:ea typeface="Cambria" panose="02040503050406030204" pitchFamily="18" charset="0"/>
              </a:rPr>
              <a:t>A trained </a:t>
            </a:r>
            <a:r>
              <a:rPr lang="en-US" b="1" dirty="0">
                <a:latin typeface="Cambria" panose="02040503050406030204" pitchFamily="18" charset="0"/>
                <a:ea typeface="Cambria" panose="02040503050406030204" pitchFamily="18" charset="0"/>
              </a:rPr>
              <a:t>CNN model</a:t>
            </a:r>
            <a:r>
              <a:rPr lang="en-US" dirty="0">
                <a:latin typeface="Cambria" panose="02040503050406030204" pitchFamily="18" charset="0"/>
                <a:ea typeface="Cambria" panose="02040503050406030204" pitchFamily="18" charset="0"/>
              </a:rPr>
              <a:t> identifies the disease and confidence score.</a:t>
            </a:r>
          </a:p>
          <a:p>
            <a:pPr marL="76200" indent="0">
              <a:buNone/>
            </a:pPr>
            <a:r>
              <a:rPr lang="en-US" b="1" dirty="0">
                <a:latin typeface="Cambria" panose="02040503050406030204" pitchFamily="18" charset="0"/>
                <a:ea typeface="Cambria" panose="02040503050406030204" pitchFamily="18" charset="0"/>
              </a:rPr>
              <a:t>Grad-CAM</a:t>
            </a:r>
            <a:r>
              <a:rPr lang="en-US" dirty="0">
                <a:latin typeface="Cambria" panose="02040503050406030204" pitchFamily="18" charset="0"/>
                <a:ea typeface="Cambria" panose="02040503050406030204" pitchFamily="18" charset="0"/>
              </a:rPr>
              <a:t> highlights infected regions for transparency.</a:t>
            </a:r>
          </a:p>
          <a:p>
            <a:pPr marL="76200" indent="0">
              <a:buNone/>
            </a:pPr>
            <a:r>
              <a:rPr lang="en-US" dirty="0">
                <a:latin typeface="Cambria" panose="02040503050406030204" pitchFamily="18" charset="0"/>
                <a:ea typeface="Cambria" panose="02040503050406030204" pitchFamily="18" charset="0"/>
              </a:rPr>
              <a:t>The system generates diagnosis and treatment suggestions.</a:t>
            </a:r>
          </a:p>
          <a:p>
            <a:pPr marL="76200" indent="0">
              <a:buNone/>
            </a:pPr>
            <a:r>
              <a:rPr lang="en-US" dirty="0">
                <a:latin typeface="Cambria" panose="02040503050406030204" pitchFamily="18" charset="0"/>
                <a:ea typeface="Cambria" panose="02040503050406030204" pitchFamily="18" charset="0"/>
              </a:rPr>
              <a:t>Results are displayed through a user-friendly interface.</a:t>
            </a:r>
          </a:p>
          <a:p>
            <a:pPr marL="76200" indent="0">
              <a:buNone/>
            </a:pPr>
            <a:r>
              <a:rPr lang="en-US" b="1" dirty="0">
                <a:latin typeface="Cambria" panose="02040503050406030204" pitchFamily="18" charset="0"/>
                <a:ea typeface="Cambria" panose="02040503050406030204" pitchFamily="18" charset="0"/>
              </a:rPr>
              <a:t>Outcome:</a:t>
            </a:r>
            <a:r>
              <a:rPr lang="en-US" dirty="0">
                <a:latin typeface="Cambria" panose="02040503050406030204" pitchFamily="18" charset="0"/>
                <a:ea typeface="Cambria" panose="02040503050406030204" pitchFamily="18" charset="0"/>
              </a:rPr>
              <a:t> Fast, accurate, and low-cost disease detection and guidance.</a:t>
            </a:r>
          </a:p>
          <a:p>
            <a:endParaRPr lang="en-IN" dirty="0">
              <a:latin typeface="Cambria" pitchFamily="18" charset="0"/>
              <a:ea typeface="Cambria" pitchFamily="18" charset="0"/>
            </a:endParaRPr>
          </a:p>
        </p:txBody>
      </p:sp>
    </p:spTree>
    <p:extLst>
      <p:ext uri="{BB962C8B-B14F-4D97-AF65-F5344CB8AC3E}">
        <p14:creationId xmlns:p14="http://schemas.microsoft.com/office/powerpoint/2010/main" val="528801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F4053-4227-42DF-9C10-4FAA7623BA75}"/>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Feasibility Study</a:t>
            </a:r>
            <a:endParaRPr lang="en-IN" dirty="0"/>
          </a:p>
        </p:txBody>
      </p:sp>
      <p:sp>
        <p:nvSpPr>
          <p:cNvPr id="3" name="Text Placeholder 2">
            <a:extLst>
              <a:ext uri="{FF2B5EF4-FFF2-40B4-BE49-F238E27FC236}">
                <a16:creationId xmlns:a16="http://schemas.microsoft.com/office/drawing/2014/main" id="{043D13C1-EDE9-44C2-FBBB-1BA7BAC12C0A}"/>
              </a:ext>
            </a:extLst>
          </p:cNvPr>
          <p:cNvSpPr>
            <a:spLocks noGrp="1"/>
          </p:cNvSpPr>
          <p:nvPr>
            <p:ph type="body" idx="1"/>
          </p:nvPr>
        </p:nvSpPr>
        <p:spPr/>
        <p:txBody>
          <a:bodyPr/>
          <a:lstStyle/>
          <a:p>
            <a:pPr marL="76200" indent="0">
              <a:buNone/>
            </a:pPr>
            <a:r>
              <a:rPr lang="en-US" dirty="0">
                <a:latin typeface="Cambria" panose="02040503050406030204" pitchFamily="18" charset="0"/>
                <a:ea typeface="Cambria" panose="02040503050406030204" pitchFamily="18" charset="0"/>
              </a:rPr>
              <a:t>The proposed AI-based crop disease detection system is highly feasible from technical, economic, and operational perspectives. It uses readily available technologies such as CNN, TensorFlow, and OpenCV, and can run on basic computers and smartphones without special hardware. Since the software tools are open-source, the system involves minimal cost and is affordable to deploy. The simple interface ensures easy usage by farmers without technical knowledge, while data privacy and explainable AI (Grad-CAM) make the system ethically compliant. Additionally, the system promotes sustainable farming by reducing pesticide misuse and improving crop productivity, making it a practical and reliable solution for real-world application.</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5095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US" dirty="0">
                <a:latin typeface="Cambria" panose="02040503050406030204" pitchFamily="18" charset="0"/>
                <a:ea typeface="Cambria" panose="02040503050406030204" pitchFamily="18" charset="0"/>
              </a:rPr>
              <a:t>Block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711200" y="831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2" name="Rounded Rectangle 1"/>
          <p:cNvSpPr/>
          <p:nvPr/>
        </p:nvSpPr>
        <p:spPr>
          <a:xfrm>
            <a:off x="596900" y="1143000"/>
            <a:ext cx="19050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Data Collection</a:t>
            </a:r>
          </a:p>
          <a:p>
            <a:pPr algn="ctr"/>
            <a:r>
              <a:rPr lang="en-US" sz="1600" dirty="0">
                <a:solidFill>
                  <a:schemeClr val="tx1"/>
                </a:solidFill>
              </a:rPr>
              <a:t>-Crop Images</a:t>
            </a:r>
          </a:p>
          <a:p>
            <a:pPr algn="ctr"/>
            <a:r>
              <a:rPr lang="en-US" sz="1600" dirty="0">
                <a:solidFill>
                  <a:schemeClr val="tx1"/>
                </a:solidFill>
              </a:rPr>
              <a:t>-Public datasets</a:t>
            </a:r>
            <a:endParaRPr lang="en-IN" sz="1600" dirty="0">
              <a:solidFill>
                <a:schemeClr val="tx1"/>
              </a:solidFill>
            </a:endParaRPr>
          </a:p>
        </p:txBody>
      </p:sp>
      <p:sp>
        <p:nvSpPr>
          <p:cNvPr id="7" name="Rounded Rectangle 6"/>
          <p:cNvSpPr/>
          <p:nvPr/>
        </p:nvSpPr>
        <p:spPr>
          <a:xfrm>
            <a:off x="3632200" y="2774950"/>
            <a:ext cx="30988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Recommendation System</a:t>
            </a:r>
          </a:p>
          <a:p>
            <a:pPr algn="ctr"/>
            <a:r>
              <a:rPr lang="en-US" sz="1600" dirty="0">
                <a:solidFill>
                  <a:schemeClr val="tx1"/>
                </a:solidFill>
              </a:rPr>
              <a:t>-Fertilizer/Pesticide Advice</a:t>
            </a:r>
          </a:p>
          <a:p>
            <a:pPr algn="ctr"/>
            <a:r>
              <a:rPr lang="en-US" sz="1600" dirty="0">
                <a:solidFill>
                  <a:schemeClr val="tx1"/>
                </a:solidFill>
              </a:rPr>
              <a:t>-Preventive Measures</a:t>
            </a:r>
            <a:endParaRPr lang="en-IN" sz="1600" dirty="0">
              <a:solidFill>
                <a:schemeClr val="tx1"/>
              </a:solidFill>
            </a:endParaRPr>
          </a:p>
        </p:txBody>
      </p:sp>
      <p:sp>
        <p:nvSpPr>
          <p:cNvPr id="8" name="Rounded Rectangle 7"/>
          <p:cNvSpPr/>
          <p:nvPr/>
        </p:nvSpPr>
        <p:spPr>
          <a:xfrm>
            <a:off x="3911600" y="1143000"/>
            <a:ext cx="25400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Preprocessing </a:t>
            </a:r>
          </a:p>
          <a:p>
            <a:pPr algn="ctr"/>
            <a:r>
              <a:rPr lang="en-US" sz="1600" dirty="0">
                <a:solidFill>
                  <a:schemeClr val="tx1"/>
                </a:solidFill>
              </a:rPr>
              <a:t>-Resizing</a:t>
            </a:r>
          </a:p>
          <a:p>
            <a:pPr algn="ctr"/>
            <a:r>
              <a:rPr lang="en-US" sz="1600" dirty="0">
                <a:solidFill>
                  <a:schemeClr val="tx1"/>
                </a:solidFill>
              </a:rPr>
              <a:t>-Augmentation</a:t>
            </a:r>
          </a:p>
          <a:p>
            <a:pPr algn="ctr"/>
            <a:r>
              <a:rPr lang="en-US" sz="1600" dirty="0">
                <a:solidFill>
                  <a:schemeClr val="tx1"/>
                </a:solidFill>
              </a:rPr>
              <a:t>-Noise removal</a:t>
            </a:r>
            <a:endParaRPr lang="en-IN" sz="1600" dirty="0">
              <a:solidFill>
                <a:schemeClr val="tx1"/>
              </a:solidFill>
            </a:endParaRPr>
          </a:p>
        </p:txBody>
      </p:sp>
      <p:sp>
        <p:nvSpPr>
          <p:cNvPr id="9" name="Rounded Rectangle 8"/>
          <p:cNvSpPr/>
          <p:nvPr/>
        </p:nvSpPr>
        <p:spPr>
          <a:xfrm>
            <a:off x="7912100" y="1143000"/>
            <a:ext cx="3060700" cy="13970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Disease Detection Mode</a:t>
            </a:r>
          </a:p>
          <a:p>
            <a:pPr algn="ctr"/>
            <a:r>
              <a:rPr lang="en-US" sz="1600" dirty="0">
                <a:solidFill>
                  <a:schemeClr val="tx1"/>
                </a:solidFill>
              </a:rPr>
              <a:t>-CNN</a:t>
            </a:r>
          </a:p>
          <a:p>
            <a:pPr algn="ctr"/>
            <a:r>
              <a:rPr lang="en-US" sz="1600" dirty="0">
                <a:solidFill>
                  <a:schemeClr val="tx1"/>
                </a:solidFill>
              </a:rPr>
              <a:t>-Feature Extraction</a:t>
            </a:r>
          </a:p>
          <a:p>
            <a:pPr algn="ctr"/>
            <a:r>
              <a:rPr lang="en-US" sz="1600" dirty="0">
                <a:solidFill>
                  <a:schemeClr val="tx1"/>
                </a:solidFill>
              </a:rPr>
              <a:t>-Classification</a:t>
            </a:r>
          </a:p>
          <a:p>
            <a:pPr algn="ctr"/>
            <a:endParaRPr lang="en-IN" sz="1600" dirty="0">
              <a:solidFill>
                <a:schemeClr val="tx1"/>
              </a:solidFill>
            </a:endParaRPr>
          </a:p>
        </p:txBody>
      </p:sp>
      <p:sp>
        <p:nvSpPr>
          <p:cNvPr id="10" name="Rounded Rectangle 9"/>
          <p:cNvSpPr/>
          <p:nvPr/>
        </p:nvSpPr>
        <p:spPr>
          <a:xfrm>
            <a:off x="3632200" y="4635500"/>
            <a:ext cx="30988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Output</a:t>
            </a:r>
          </a:p>
          <a:p>
            <a:pPr algn="ctr"/>
            <a:r>
              <a:rPr lang="en-US" sz="1600" dirty="0">
                <a:solidFill>
                  <a:schemeClr val="tx1"/>
                </a:solidFill>
              </a:rPr>
              <a:t>-Healthy//Diseased Result</a:t>
            </a:r>
          </a:p>
          <a:p>
            <a:pPr algn="ctr"/>
            <a:r>
              <a:rPr lang="en-US" sz="1600" dirty="0">
                <a:solidFill>
                  <a:schemeClr val="tx1"/>
                </a:solidFill>
              </a:rPr>
              <a:t>-Suggested Treatment</a:t>
            </a:r>
            <a:endParaRPr lang="en-IN" sz="1600" dirty="0">
              <a:solidFill>
                <a:schemeClr val="tx1"/>
              </a:solidFill>
            </a:endParaRPr>
          </a:p>
        </p:txBody>
      </p:sp>
      <p:cxnSp>
        <p:nvCxnSpPr>
          <p:cNvPr id="6" name="Straight Arrow Connector 5"/>
          <p:cNvCxnSpPr/>
          <p:nvPr/>
        </p:nvCxnSpPr>
        <p:spPr>
          <a:xfrm>
            <a:off x="2679700" y="1562100"/>
            <a:ext cx="11049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578600" y="1670050"/>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0"/>
          </p:cNvCxnSpPr>
          <p:nvPr/>
        </p:nvCxnSpPr>
        <p:spPr>
          <a:xfrm flipV="1">
            <a:off x="5181600" y="2286000"/>
            <a:ext cx="0" cy="488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181600" y="3829050"/>
            <a:ext cx="0" cy="806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832600" y="3302000"/>
            <a:ext cx="1943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775700" y="2530475"/>
            <a:ext cx="0" cy="771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622300"/>
            <a:ext cx="10668000" cy="431800"/>
          </a:xfrm>
        </p:spPr>
        <p:txBody>
          <a:bodyPr/>
          <a:lstStyle/>
          <a:p>
            <a:r>
              <a:rPr lang="en-US" dirty="0">
                <a:latin typeface="Cambria" panose="02040503050406030204" pitchFamily="18" charset="0"/>
                <a:ea typeface="Cambria" panose="02040503050406030204" pitchFamily="18" charset="0"/>
              </a:rPr>
              <a:t>Modules:</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normAutofit fontScale="85000" lnSpcReduction="10000"/>
          </a:bodyPr>
          <a:lstStyle/>
          <a:p>
            <a:pPr marL="76200" indent="0">
              <a:buNone/>
            </a:pPr>
            <a:r>
              <a:rPr lang="en-US" b="1" dirty="0">
                <a:latin typeface="Cambria" panose="02040503050406030204" pitchFamily="18" charset="0"/>
                <a:ea typeface="Cambria" panose="02040503050406030204" pitchFamily="18" charset="0"/>
              </a:rPr>
              <a:t>1. Image Acquisition Module</a:t>
            </a:r>
          </a:p>
          <a:p>
            <a:pPr marL="76200" indent="0">
              <a:buNone/>
            </a:pPr>
            <a:r>
              <a:rPr lang="en-US" dirty="0">
                <a:latin typeface="Cambria" panose="02040503050406030204" pitchFamily="18" charset="0"/>
                <a:ea typeface="Cambria" panose="02040503050406030204" pitchFamily="18" charset="0"/>
              </a:rPr>
              <a:t>Captures crop leaf images using smartphone, camera, or dataset input.</a:t>
            </a:r>
          </a:p>
          <a:p>
            <a:pPr marL="76200" indent="0">
              <a:buNone/>
            </a:pPr>
            <a:r>
              <a:rPr lang="en-US" b="1" dirty="0">
                <a:latin typeface="Cambria" panose="02040503050406030204" pitchFamily="18" charset="0"/>
                <a:ea typeface="Cambria" panose="02040503050406030204" pitchFamily="18" charset="0"/>
              </a:rPr>
              <a:t>2. Image Preprocessing Module</a:t>
            </a:r>
          </a:p>
          <a:p>
            <a:pPr marL="76200" indent="0">
              <a:buNone/>
            </a:pPr>
            <a:r>
              <a:rPr lang="en-US" dirty="0">
                <a:latin typeface="Cambria" panose="02040503050406030204" pitchFamily="18" charset="0"/>
                <a:ea typeface="Cambria" panose="02040503050406030204" pitchFamily="18" charset="0"/>
              </a:rPr>
              <a:t>Resizes, normalizes, and cleans images; performs data augmentation to improve accuracy.</a:t>
            </a:r>
          </a:p>
          <a:p>
            <a:pPr marL="76200" indent="0">
              <a:buNone/>
            </a:pPr>
            <a:r>
              <a:rPr lang="en-US" b="1" dirty="0">
                <a:latin typeface="Cambria" panose="02040503050406030204" pitchFamily="18" charset="0"/>
                <a:ea typeface="Cambria" panose="02040503050406030204" pitchFamily="18" charset="0"/>
              </a:rPr>
              <a:t>3. Disease Classification Module (CNN)</a:t>
            </a:r>
          </a:p>
          <a:p>
            <a:pPr marL="76200" indent="0">
              <a:buNone/>
            </a:pPr>
            <a:r>
              <a:rPr lang="en-US" dirty="0">
                <a:latin typeface="Cambria" panose="02040503050406030204" pitchFamily="18" charset="0"/>
                <a:ea typeface="Cambria" panose="02040503050406030204" pitchFamily="18" charset="0"/>
              </a:rPr>
              <a:t>Uses a custom CNN model to detect diseases and classify crops from images.</a:t>
            </a:r>
          </a:p>
          <a:p>
            <a:pPr marL="76200" indent="0">
              <a:buNone/>
            </a:pPr>
            <a:r>
              <a:rPr lang="en-US" b="1" dirty="0">
                <a:latin typeface="Cambria" panose="02040503050406030204" pitchFamily="18" charset="0"/>
                <a:ea typeface="Cambria" panose="02040503050406030204" pitchFamily="18" charset="0"/>
              </a:rPr>
              <a:t>4. Model Training &amp; Early Stopping Module</a:t>
            </a:r>
          </a:p>
          <a:p>
            <a:pPr marL="76200" indent="0">
              <a:buNone/>
            </a:pPr>
            <a:r>
              <a:rPr lang="en-US" dirty="0">
                <a:latin typeface="Cambria" panose="02040503050406030204" pitchFamily="18" charset="0"/>
                <a:ea typeface="Cambria" panose="02040503050406030204" pitchFamily="18" charset="0"/>
              </a:rPr>
              <a:t>Trains the model efficiently and stops training when performance stops improving.</a:t>
            </a:r>
          </a:p>
          <a:p>
            <a:pPr marL="76200" indent="0">
              <a:buNone/>
            </a:pPr>
            <a:r>
              <a:rPr lang="en-US" b="1" dirty="0">
                <a:latin typeface="Cambria" panose="02040503050406030204" pitchFamily="18" charset="0"/>
                <a:ea typeface="Cambria" panose="02040503050406030204" pitchFamily="18" charset="0"/>
              </a:rPr>
              <a:t>5. Explainability Module (Grad-CAM)</a:t>
            </a:r>
          </a:p>
          <a:p>
            <a:pPr marL="76200" indent="0">
              <a:buNone/>
            </a:pPr>
            <a:r>
              <a:rPr lang="en-US" dirty="0">
                <a:latin typeface="Cambria" panose="02040503050406030204" pitchFamily="18" charset="0"/>
                <a:ea typeface="Cambria" panose="02040503050406030204" pitchFamily="18" charset="0"/>
              </a:rPr>
              <a:t>Highlights infected areas on the leaf for transparent and trustworthy predictions.</a:t>
            </a:r>
          </a:p>
          <a:p>
            <a:pPr marL="76200" indent="0">
              <a:buNone/>
            </a:pPr>
            <a:r>
              <a:rPr lang="en-US" b="1" dirty="0">
                <a:latin typeface="Cambria" panose="02040503050406030204" pitchFamily="18" charset="0"/>
                <a:ea typeface="Cambria" panose="02040503050406030204" pitchFamily="18" charset="0"/>
              </a:rPr>
              <a:t>6. Recommendation Engine Module</a:t>
            </a:r>
          </a:p>
          <a:p>
            <a:pPr marL="76200" indent="0">
              <a:buNone/>
            </a:pPr>
            <a:r>
              <a:rPr lang="en-US" dirty="0">
                <a:latin typeface="Cambria" panose="02040503050406030204" pitchFamily="18" charset="0"/>
                <a:ea typeface="Cambria" panose="02040503050406030204" pitchFamily="18" charset="0"/>
              </a:rPr>
              <a:t>Provides treatment suggestions and preventive measures based on diagnosis.</a:t>
            </a:r>
          </a:p>
          <a:p>
            <a:pPr marL="76200" indent="0">
              <a:buNone/>
            </a:pPr>
            <a:r>
              <a:rPr lang="en-US" b="1" dirty="0">
                <a:latin typeface="Cambria" panose="02040503050406030204" pitchFamily="18" charset="0"/>
                <a:ea typeface="Cambria" panose="02040503050406030204" pitchFamily="18" charset="0"/>
              </a:rPr>
              <a:t>7. User Interface Module</a:t>
            </a:r>
          </a:p>
          <a:p>
            <a:pPr marL="76200" indent="0">
              <a:buNone/>
            </a:pPr>
            <a:r>
              <a:rPr lang="en-US" dirty="0">
                <a:latin typeface="Cambria" panose="02040503050406030204" pitchFamily="18" charset="0"/>
                <a:ea typeface="Cambria" panose="02040503050406030204" pitchFamily="18" charset="0"/>
              </a:rPr>
              <a:t>Allows users to upload images and view results through a simple web/mobile interface.</a:t>
            </a:r>
          </a:p>
          <a:p>
            <a:pPr>
              <a:lnSpc>
                <a:spcPct val="150000"/>
              </a:lnSpc>
            </a:pPr>
            <a:endParaRPr lang="en-IN" dirty="0">
              <a:latin typeface="Cambria" pitchFamily="18" charset="0"/>
              <a:ea typeface="Cambria" pitchFamily="18" charset="0"/>
            </a:endParaRPr>
          </a:p>
        </p:txBody>
      </p:sp>
    </p:spTree>
    <p:extLst>
      <p:ext uri="{BB962C8B-B14F-4D97-AF65-F5344CB8AC3E}">
        <p14:creationId xmlns:p14="http://schemas.microsoft.com/office/powerpoint/2010/main" val="4128329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592138"/>
            <a:ext cx="10668000" cy="487500"/>
          </a:xfrm>
        </p:spPr>
        <p:txBody>
          <a:bodyPr/>
          <a:lstStyle/>
          <a:p>
            <a:r>
              <a:rPr lang="en-US" dirty="0">
                <a:latin typeface="Cambria" panose="02040503050406030204" pitchFamily="18" charset="0"/>
                <a:ea typeface="Cambria" panose="02040503050406030204" pitchFamily="18" charset="0"/>
              </a:rPr>
              <a:t>Hardware/Software Requirements:</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lstStyle/>
          <a:p>
            <a:pPr marL="76200" indent="0">
              <a:buNone/>
            </a:pPr>
            <a:r>
              <a:rPr lang="en-IN" b="1" dirty="0">
                <a:latin typeface="Cambria" pitchFamily="18" charset="0"/>
                <a:ea typeface="Cambria" pitchFamily="18" charset="0"/>
              </a:rPr>
              <a:t>   Hardware:</a:t>
            </a:r>
            <a:endParaRPr lang="en-IN" dirty="0">
              <a:latin typeface="Cambria" pitchFamily="18" charset="0"/>
              <a:ea typeface="Cambria" pitchFamily="18" charset="0"/>
            </a:endParaRPr>
          </a:p>
          <a:p>
            <a:pPr marL="76200" indent="0">
              <a:buNone/>
            </a:pPr>
            <a:r>
              <a:rPr lang="en-IN" dirty="0">
                <a:latin typeface="Cambria" pitchFamily="18" charset="0"/>
                <a:ea typeface="Cambria" pitchFamily="18" charset="0"/>
              </a:rPr>
              <a:t>Input Device: Smartphone/Camera.</a:t>
            </a:r>
          </a:p>
          <a:p>
            <a:pPr marL="76200" indent="0">
              <a:buNone/>
            </a:pPr>
            <a:r>
              <a:rPr lang="en-IN" dirty="0">
                <a:latin typeface="Cambria" pitchFamily="18" charset="0"/>
                <a:ea typeface="Cambria" pitchFamily="18" charset="0"/>
              </a:rPr>
              <a:t>Processing: Laptop/PC with GPU </a:t>
            </a:r>
          </a:p>
          <a:p>
            <a:endParaRPr lang="en-IN" dirty="0">
              <a:latin typeface="Cambria" pitchFamily="18" charset="0"/>
              <a:ea typeface="Cambria" pitchFamily="18" charset="0"/>
            </a:endParaRPr>
          </a:p>
          <a:p>
            <a:pPr marL="76200" indent="0">
              <a:buNone/>
            </a:pPr>
            <a:r>
              <a:rPr lang="en-IN" b="1" dirty="0">
                <a:latin typeface="Cambria" pitchFamily="18" charset="0"/>
                <a:ea typeface="Cambria" pitchFamily="18" charset="0"/>
              </a:rPr>
              <a:t>   Software:</a:t>
            </a:r>
            <a:endParaRPr lang="en-IN" dirty="0">
              <a:latin typeface="Cambria" pitchFamily="18" charset="0"/>
              <a:ea typeface="Cambria" pitchFamily="18" charset="0"/>
            </a:endParaRPr>
          </a:p>
          <a:p>
            <a:pPr marL="76200" indent="0">
              <a:buNone/>
            </a:pPr>
            <a:r>
              <a:rPr lang="en-IN" dirty="0">
                <a:latin typeface="Cambria" pitchFamily="18" charset="0"/>
                <a:ea typeface="Cambria" pitchFamily="18" charset="0"/>
              </a:rPr>
              <a:t>Programming: Python</a:t>
            </a:r>
          </a:p>
          <a:p>
            <a:pPr marL="76200" indent="0">
              <a:buNone/>
            </a:pPr>
            <a:r>
              <a:rPr lang="en-IN" dirty="0">
                <a:latin typeface="Cambria" pitchFamily="18" charset="0"/>
                <a:ea typeface="Cambria" pitchFamily="18" charset="0"/>
              </a:rPr>
              <a:t>Frameworks: </a:t>
            </a:r>
            <a:r>
              <a:rPr lang="en-IN" dirty="0" err="1">
                <a:latin typeface="Cambria" pitchFamily="18" charset="0"/>
                <a:ea typeface="Cambria" pitchFamily="18" charset="0"/>
              </a:rPr>
              <a:t>TensorFlow</a:t>
            </a:r>
            <a:r>
              <a:rPr lang="en-IN" dirty="0">
                <a:latin typeface="Cambria" pitchFamily="18" charset="0"/>
                <a:ea typeface="Cambria" pitchFamily="18" charset="0"/>
              </a:rPr>
              <a:t> </a:t>
            </a:r>
          </a:p>
          <a:p>
            <a:pPr marL="76200" indent="0">
              <a:buNone/>
            </a:pPr>
            <a:r>
              <a:rPr lang="en-IN" dirty="0">
                <a:latin typeface="Cambria" pitchFamily="18" charset="0"/>
                <a:ea typeface="Cambria" pitchFamily="18" charset="0"/>
              </a:rPr>
              <a:t>Libraries: </a:t>
            </a:r>
            <a:r>
              <a:rPr lang="en-IN" dirty="0" err="1">
                <a:latin typeface="Cambria" pitchFamily="18" charset="0"/>
                <a:ea typeface="Cambria" pitchFamily="18" charset="0"/>
              </a:rPr>
              <a:t>OpenCV</a:t>
            </a:r>
            <a:r>
              <a:rPr lang="en-IN" dirty="0">
                <a:latin typeface="Cambria" pitchFamily="18" charset="0"/>
                <a:ea typeface="Cambria" pitchFamily="18" charset="0"/>
              </a:rPr>
              <a:t>, </a:t>
            </a:r>
            <a:r>
              <a:rPr lang="en-IN" dirty="0" err="1">
                <a:latin typeface="Cambria" pitchFamily="18" charset="0"/>
                <a:ea typeface="Cambria" pitchFamily="18" charset="0"/>
              </a:rPr>
              <a:t>NumPy</a:t>
            </a:r>
            <a:r>
              <a:rPr lang="en-IN" dirty="0">
                <a:latin typeface="Cambria" pitchFamily="18" charset="0"/>
                <a:ea typeface="Cambria" pitchFamily="18" charset="0"/>
              </a:rPr>
              <a:t>, Pandas, </a:t>
            </a:r>
            <a:r>
              <a:rPr lang="en-IN" dirty="0" err="1">
                <a:latin typeface="Cambria" pitchFamily="18" charset="0"/>
                <a:ea typeface="Cambria" pitchFamily="18" charset="0"/>
              </a:rPr>
              <a:t>Matplotlib</a:t>
            </a:r>
            <a:endParaRPr lang="en-IN" dirty="0">
              <a:latin typeface="Cambria" pitchFamily="18" charset="0"/>
              <a:ea typeface="Cambria" pitchFamily="18" charset="0"/>
            </a:endParaRPr>
          </a:p>
          <a:p>
            <a:pPr marL="76200" indent="0">
              <a:buNone/>
            </a:pPr>
            <a:r>
              <a:rPr lang="en-IN" dirty="0">
                <a:latin typeface="Cambria" pitchFamily="18" charset="0"/>
                <a:ea typeface="Cambria" pitchFamily="18" charset="0"/>
              </a:rPr>
              <a:t>Version Control: </a:t>
            </a:r>
            <a:r>
              <a:rPr lang="en-IN" dirty="0" err="1">
                <a:latin typeface="Cambria" pitchFamily="18" charset="0"/>
                <a:ea typeface="Cambria" pitchFamily="18" charset="0"/>
              </a:rPr>
              <a:t>GitHub</a:t>
            </a:r>
            <a:endParaRPr lang="en-IN" dirty="0">
              <a:latin typeface="Cambria" pitchFamily="18" charset="0"/>
              <a:ea typeface="Cambria" pitchFamily="18" charset="0"/>
            </a:endParaRPr>
          </a:p>
          <a:p>
            <a:endParaRPr lang="en-IN" dirty="0">
              <a:latin typeface="Cambria" pitchFamily="18" charset="0"/>
              <a:ea typeface="Cambria" pitchFamily="18" charset="0"/>
            </a:endParaRPr>
          </a:p>
        </p:txBody>
      </p:sp>
    </p:spTree>
    <p:extLst>
      <p:ext uri="{BB962C8B-B14F-4D97-AF65-F5344CB8AC3E}">
        <p14:creationId xmlns:p14="http://schemas.microsoft.com/office/powerpoint/2010/main" val="85885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2886697" y="2895073"/>
            <a:ext cx="7058581" cy="125140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4" name="AutoShape 4" descr="Output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1066800"/>
            <a:ext cx="11490325" cy="496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89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83967" y="1227843"/>
            <a:ext cx="10925665" cy="4767605"/>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1800" dirty="0">
                <a:latin typeface="Cambria" panose="02040503050406030204" pitchFamily="18" charset="0"/>
                <a:ea typeface="Cambria" panose="02040503050406030204" pitchFamily="18" charset="0"/>
              </a:rPr>
              <a:t>[1]. S. Mohanty, D. Hughes, and M. Salathé, “Using deep learning for image-based plant     disease detection,” Frontiers in Plant Science, vol. 7, p. 1419, Sep. 2016.</a:t>
            </a:r>
          </a:p>
          <a:p>
            <a:pPr marL="152400" indent="0">
              <a:spcBef>
                <a:spcPts val="0"/>
              </a:spcBef>
              <a:buNone/>
            </a:pPr>
            <a:endParaRPr lang="en-US" sz="18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[2]. A. Too, L. Yujian, S. Njuki, and L. Yingchun, “A comparative study of fine-tuning deep learning models for plant disease identification,” Computers and Electronics in Agriculture, vol. 161, pp. 272–279, Jun. 2019.</a:t>
            </a:r>
          </a:p>
          <a:p>
            <a:pPr marL="152400" indent="0">
              <a:spcBef>
                <a:spcPts val="0"/>
              </a:spcBef>
              <a:buNone/>
            </a:pPr>
            <a:endParaRPr lang="en-US" sz="18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[3]. P. Ferentinos, “Deep learning models for plant disease detection and diagnosis,” Computers and Electronics in Agriculture, vol. 145, pp. 311–318, Feb. 2018.</a:t>
            </a:r>
          </a:p>
          <a:p>
            <a:pPr marL="609600" lvl="1" indent="0">
              <a:spcBef>
                <a:spcPts val="0"/>
              </a:spcBef>
              <a:buNone/>
            </a:pPr>
            <a:endParaRPr lang="en-US" sz="19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itchFamily="18" charset="0"/>
                <a:ea typeface="Cambria" pitchFamily="18" charset="0"/>
              </a:rPr>
              <a:t>[4]. P. Jiang, Y. Chen, B. Liu, D. He and C. Liang, “Real-Time Detection of Apple Leaf Diseases Using Deep Learning Approach Based on Improved Convolutional Neural Networks,”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7, pp. 59069–59080, 2019.</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itchFamily="18" charset="0"/>
                <a:ea typeface="Cambria" pitchFamily="18" charset="0"/>
              </a:rPr>
              <a:t>[5]. </a:t>
            </a:r>
            <a:r>
              <a:rPr lang="en-IN" sz="1800" dirty="0">
                <a:latin typeface="Cambria" pitchFamily="18" charset="0"/>
                <a:ea typeface="Cambria" pitchFamily="18" charset="0"/>
              </a:rPr>
              <a:t>X. Zhang, Y. </a:t>
            </a:r>
            <a:r>
              <a:rPr lang="en-IN" sz="1800" dirty="0" err="1">
                <a:latin typeface="Cambria" pitchFamily="18" charset="0"/>
                <a:ea typeface="Cambria" pitchFamily="18" charset="0"/>
              </a:rPr>
              <a:t>Qiao</a:t>
            </a:r>
            <a:r>
              <a:rPr lang="en-IN" sz="1800" dirty="0">
                <a:latin typeface="Cambria" pitchFamily="18" charset="0"/>
                <a:ea typeface="Cambria" pitchFamily="18" charset="0"/>
              </a:rPr>
              <a:t>, F. </a:t>
            </a:r>
            <a:r>
              <a:rPr lang="en-IN" sz="1800" dirty="0" err="1">
                <a:latin typeface="Cambria" pitchFamily="18" charset="0"/>
                <a:ea typeface="Cambria" pitchFamily="18" charset="0"/>
              </a:rPr>
              <a:t>Meng</a:t>
            </a:r>
            <a:r>
              <a:rPr lang="en-IN" sz="1800" dirty="0">
                <a:latin typeface="Cambria" pitchFamily="18" charset="0"/>
                <a:ea typeface="Cambria" pitchFamily="18" charset="0"/>
              </a:rPr>
              <a:t>, C. Fan and M. Zhang, “Identification of Maize Leaf Diseases Using Improved Deep Convolutional Neural Networks,”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 vol. 6, pp. 30370–30377, 2018.</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30957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83967" y="1227843"/>
            <a:ext cx="10925665" cy="4767605"/>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1800" dirty="0">
                <a:latin typeface="Cambria" panose="02040503050406030204" pitchFamily="18" charset="0"/>
                <a:ea typeface="Cambria" panose="02040503050406030204" pitchFamily="18" charset="0"/>
              </a:rPr>
              <a:t>[6].  H.-J. Yu and C.-H. Son, “Apple Leaf Disease Identification through Region-of-Interest-Aware Deep Convolutional Neural Network,”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8, pp. 60696–60706, 2020, </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itchFamily="18" charset="0"/>
                <a:ea typeface="Cambria" pitchFamily="18" charset="0"/>
              </a:rPr>
              <a:t>[7]. A. Too, L. Yujian, S. Njuki, and L. Yingchun, “A comparative study of fine-tuning deep learning models for plant disease identification,” Computers and Electronics in Agriculture, vol. 161, pp. 272–279, Jun. 2019.</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itchFamily="18" charset="0"/>
                <a:ea typeface="Cambria" pitchFamily="18" charset="0"/>
              </a:rPr>
              <a:t>[8]. P. Ferentinos, “Deep learning models for plant disease detection and diagnosis,” Computers and Electronics in Agriculture, vol. 145, pp. 311–318, Feb. 2018.</a:t>
            </a:r>
          </a:p>
          <a:p>
            <a:pPr marL="609600" lvl="1" indent="0">
              <a:spcBef>
                <a:spcPts val="0"/>
              </a:spcBef>
              <a:buNone/>
            </a:pPr>
            <a:endParaRPr lang="en-US" sz="19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[9]. L. Li, S. Zhang and B. Wang, “Plant Disease Detection and Classification by Deep Learning—A Review,”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9, pp. 56683–56698, 2021.</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itchFamily="18" charset="0"/>
                <a:ea typeface="Cambria" pitchFamily="18" charset="0"/>
              </a:rPr>
              <a:t>[10].  </a:t>
            </a:r>
            <a:r>
              <a:rPr lang="en-IN" sz="1800" dirty="0">
                <a:latin typeface="Cambria" pitchFamily="18" charset="0"/>
                <a:ea typeface="Cambria" pitchFamily="18" charset="0"/>
              </a:rPr>
              <a:t>J. Chen, W. Chen, B. Zhang, Z. Tao, Y. Wu and M. Han, “Detection of Tomato Leaf Disease Based on Improved Convolutional Neural Network,”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 vol. 9, pp. 30812–30825, 2021, </a:t>
            </a:r>
            <a:r>
              <a:rPr lang="en-IN" sz="1800" dirty="0" err="1">
                <a:latin typeface="Cambria" pitchFamily="18" charset="0"/>
                <a:ea typeface="Cambria" pitchFamily="18" charset="0"/>
              </a:rPr>
              <a:t>doi</a:t>
            </a:r>
            <a:r>
              <a:rPr lang="en-IN" sz="1800" dirty="0">
                <a:latin typeface="Cambria" pitchFamily="18" charset="0"/>
                <a:ea typeface="Cambria" pitchFamily="18" charset="0"/>
              </a:rPr>
              <a:t>: 10.1109/ACCESS.2021.3069840.</a:t>
            </a:r>
            <a:endParaRPr lang="en-US" sz="18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859</TotalTime>
  <Words>1709</Words>
  <Application>Microsoft Office PowerPoint</Application>
  <PresentationFormat>Widescreen</PresentationFormat>
  <Paragraphs>177</Paragraphs>
  <Slides>18</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vt:lpstr>
      <vt:lpstr>Sitka Text</vt:lpstr>
      <vt:lpstr>Verdana</vt:lpstr>
      <vt:lpstr>Wingdings</vt:lpstr>
      <vt:lpstr>Bioinformatics</vt:lpstr>
      <vt:lpstr>AI-Driven Crop Disease Prediction and Management System</vt:lpstr>
      <vt:lpstr>Content:</vt:lpstr>
      <vt:lpstr>Abstract</vt:lpstr>
      <vt:lpstr>Literature Survey:</vt:lpstr>
      <vt:lpstr>Literature Survey:</vt:lpstr>
      <vt:lpstr>Literature Survey:</vt:lpstr>
      <vt:lpstr>Objectives</vt:lpstr>
      <vt:lpstr>Methodology</vt:lpstr>
      <vt:lpstr>Methodology</vt:lpstr>
      <vt:lpstr>Proposed Method </vt:lpstr>
      <vt:lpstr>Feasibility Study</vt:lpstr>
      <vt:lpstr>Block Diagram:</vt:lpstr>
      <vt:lpstr>Modules: </vt:lpstr>
      <vt:lpstr>Hardware/Software Requirements: </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Taanya Subbaiah</cp:lastModifiedBy>
  <cp:revision>70</cp:revision>
  <dcterms:modified xsi:type="dcterms:W3CDTF">2025-11-27T09:36:22Z</dcterms:modified>
</cp:coreProperties>
</file>